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658368"/>
            <a:ext cx="3474720" cy="310896"/>
          </a:xfrm>
          <a:prstGeom prst="roundRect">
            <a:avLst/>
          </a:prstGeom>
          <a:solidFill>
            <a:srgbClr val="1E2D50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DBEAFE"/>
                </a:solidFill>
                <a:latin typeface="Segoe UI"/>
              </a:defRPr>
            </a:pPr>
            <a:r>
              <a:t>AI FULL-STACK APP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5000" b="1" i="0">
                <a:solidFill>
                  <a:srgbClr val="FFFFFF"/>
                </a:solidFill>
                <a:latin typeface="Segoe UI"/>
              </a:defRPr>
            </a:pPr>
            <a:r>
              <a:t>AndarKaCode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700" b="0" i="0">
                <a:solidFill>
                  <a:srgbClr val="DBEAFE"/>
                </a:solidFill>
                <a:latin typeface="Segoe UI"/>
              </a:defRPr>
            </a:pPr>
            <a:r>
              <a:t>Screenshot in → Working full-stack app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150" b="0" i="0">
                <a:solidFill>
                  <a:srgbClr val="94A3B8"/>
                </a:solidFill>
                <a:latin typeface="Segoe UI"/>
              </a:defRPr>
            </a:pPr>
            <a:r>
              <a:t>Turn any UI screenshot into a running React + Express + MongoDB app in under 3 minutes. Fully local. Zero hallucination. Zero cloud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22191"/>
            <a:ext cx="2606040" cy="1170432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822191"/>
            <a:ext cx="2606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96849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600" b="1" i="0">
                <a:solidFill>
                  <a:srgbClr val="2563EB"/>
                </a:solidFill>
                <a:latin typeface="Segoe UI"/>
              </a:defRPr>
            </a:pPr>
            <a:r>
              <a:t>⚡ 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256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Image →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822191"/>
            <a:ext cx="2606040" cy="1170432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3822191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396849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600" b="1" i="0">
                <a:solidFill>
                  <a:srgbClr val="10B981"/>
                </a:solidFill>
                <a:latin typeface="Segoe UI"/>
              </a:defRPr>
            </a:pPr>
            <a:r>
              <a:t>$0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44256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No cloud needed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48072"/>
            <a:ext cx="2606040" cy="1170432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5148072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529437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600" b="1" i="0">
                <a:solidFill>
                  <a:srgbClr val="7C3AED"/>
                </a:solidFill>
                <a:latin typeface="Segoe UI"/>
              </a:defRPr>
            </a:pPr>
            <a:r>
              <a:t>0% Halluc.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751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Strictly what's seen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5148072"/>
            <a:ext cx="2606040" cy="1170432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20440" y="5148072"/>
            <a:ext cx="26060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85032" y="529437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600" b="1" i="0">
                <a:solidFill>
                  <a:srgbClr val="D97706"/>
                </a:solidFill>
                <a:latin typeface="Segoe UI"/>
              </a:defRPr>
            </a:pPr>
            <a:r>
              <a:t>195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5751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94A3B8"/>
                </a:solidFill>
                <a:latin typeface="Segoe UI"/>
              </a:defRPr>
            </a:pPr>
            <a:r>
              <a:t>100% pass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11480"/>
            <a:ext cx="5650992" cy="6263640"/>
          </a:xfrm>
          <a:prstGeom prst="rect">
            <a:avLst/>
          </a:prstGeom>
          <a:solidFill>
            <a:srgbClr val="141E37"/>
          </a:solidFill>
          <a:ln>
            <a:solidFill>
              <a:srgbClr val="25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1023"/>
          </a:solidFill>
          <a:ln w="12700">
            <a:solidFill>
              <a:srgbClr val="0A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6675120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0" i="0">
                <a:solidFill>
                  <a:srgbClr val="64748B"/>
                </a:solidFill>
                <a:latin typeface="Segoe UI"/>
              </a:defRPr>
            </a:pPr>
            <a:r>
              <a:t>github.com/your-repo  ·  Built with Python, React, Express, MongoDB, Gemini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58C2F6B-6A41-45F0-813C-C9E18F873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DC2626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Why Traditional App Development Fails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406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37944"/>
            <a:ext cx="5038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Current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58568"/>
            <a:ext cx="503834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3–5 Days Wasted  </a:t>
            </a:r>
            <a:r>
              <a:rPr sz="1000">
                <a:solidFill>
                  <a:srgbClr val="64748B"/>
                </a:solidFill>
                <a:latin typeface="Segoe UI"/>
              </a:rPr>
              <a:t>Manual boilerplate: routing, DB schema, API wiring done by hand.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Cloud Costs  </a:t>
            </a:r>
            <a:r>
              <a:rPr sz="1000">
                <a:solidFill>
                  <a:srgbClr val="64748B"/>
                </a:solidFill>
                <a:latin typeface="Segoe UI"/>
              </a:rPr>
              <a:t>Every LLM API call costs money. Tokens add up to hundreds per month.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Hallucination  </a:t>
            </a:r>
            <a:r>
              <a:rPr sz="1000">
                <a:solidFill>
                  <a:srgbClr val="64748B"/>
                </a:solidFill>
                <a:latin typeface="Segoe UI"/>
              </a:rPr>
              <a:t>LLMs invent routes, fields, schemas that don't match your design.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Platform Lock-in  </a:t>
            </a:r>
            <a:r>
              <a:rPr sz="1000">
                <a:solidFill>
                  <a:srgbClr val="64748B"/>
                </a:solidFill>
                <a:latin typeface="Segoe UI"/>
              </a:rPr>
              <a:t>Low-code tools own your app. No raw source code to edit or extend.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Missed Context  </a:t>
            </a:r>
            <a:r>
              <a:rPr sz="1000">
                <a:solidFill>
                  <a:srgbClr val="64748B"/>
                </a:solidFill>
                <a:latin typeface="Segoe UI"/>
              </a:rPr>
              <a:t>Developers re-type what a designer already drew — wasted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4406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837944"/>
            <a:ext cx="5038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AndarKaCode Fixes All of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58568"/>
            <a:ext cx="503834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 dirty="0">
                <a:solidFill>
                  <a:srgbClr val="10B981"/>
                </a:solidFill>
              </a:rPr>
              <a:t>▸ </a:t>
            </a:r>
            <a:r>
              <a:rPr sz="1050" b="1" dirty="0">
                <a:solidFill>
                  <a:srgbClr val="0F172A"/>
                </a:solidFill>
                <a:latin typeface="Segoe UI"/>
              </a:rPr>
              <a:t>3-Minute Build  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Screenshot → full React + Express + MongoDB app, completely wired.</a:t>
            </a:r>
          </a:p>
          <a:p>
            <a:pPr>
              <a:spcBef>
                <a:spcPts val="500"/>
              </a:spcBef>
            </a:pPr>
            <a:r>
              <a:rPr sz="1000" b="1" dirty="0">
                <a:solidFill>
                  <a:srgbClr val="10B981"/>
                </a:solidFill>
              </a:rPr>
              <a:t>▸ </a:t>
            </a:r>
            <a:r>
              <a:rPr sz="1050" b="1" dirty="0">
                <a:solidFill>
                  <a:srgbClr val="0F172A"/>
                </a:solidFill>
                <a:latin typeface="Segoe UI"/>
              </a:rPr>
              <a:t>$0 Cloud Cost  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Runs on your local GPU. No API key, no recurring fee, no vendor.</a:t>
            </a:r>
          </a:p>
          <a:p>
            <a:pPr>
              <a:spcBef>
                <a:spcPts val="500"/>
              </a:spcBef>
            </a:pPr>
            <a:r>
              <a:rPr sz="1000" b="1" dirty="0">
                <a:solidFill>
                  <a:srgbClr val="10B981"/>
                </a:solidFill>
              </a:rPr>
              <a:t>▸ </a:t>
            </a:r>
            <a:r>
              <a:rPr sz="1050" b="1" dirty="0">
                <a:solidFill>
                  <a:srgbClr val="0F172A"/>
                </a:solidFill>
                <a:latin typeface="Segoe UI"/>
              </a:rPr>
              <a:t>Zero Hallucination  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AI reads only what's visible in the screenshot — nothing invented.</a:t>
            </a:r>
          </a:p>
          <a:p>
            <a:pPr>
              <a:spcBef>
                <a:spcPts val="500"/>
              </a:spcBef>
            </a:pPr>
            <a:r>
              <a:rPr sz="1000" b="1" dirty="0">
                <a:solidFill>
                  <a:srgbClr val="10B981"/>
                </a:solidFill>
              </a:rPr>
              <a:t>▸ </a:t>
            </a:r>
            <a:r>
              <a:rPr sz="1050" b="1" dirty="0">
                <a:solidFill>
                  <a:srgbClr val="0F172A"/>
                </a:solidFill>
                <a:latin typeface="Segoe UI"/>
              </a:rPr>
              <a:t>Full Source Code  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You own every file: HTML, JS, Express controllers, MongoDB schema.</a:t>
            </a:r>
          </a:p>
          <a:p>
            <a:pPr>
              <a:spcBef>
                <a:spcPts val="500"/>
              </a:spcBef>
            </a:pPr>
            <a:r>
              <a:rPr sz="1000" b="1" dirty="0">
                <a:solidFill>
                  <a:srgbClr val="10B981"/>
                </a:solidFill>
              </a:rPr>
              <a:t>▸ </a:t>
            </a:r>
            <a:r>
              <a:rPr sz="1050" b="1" dirty="0">
                <a:solidFill>
                  <a:srgbClr val="0F172A"/>
                </a:solidFill>
                <a:latin typeface="Segoe UI"/>
              </a:rPr>
              <a:t>One Command  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`python pipeline.py my-design.png` — that's all it takes.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F2A4DB-612C-4424-BC51-7F10BF2F3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2563EB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15 Automated Steps — One Screenshot, One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353312" cy="1554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8368" y="1892807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Drop UI screenshot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19325" y="2423160"/>
            <a:ext cx="138988" cy="27432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75688" y="1783080"/>
            <a:ext cx="1353312" cy="1554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185416" y="1892807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AI reads layout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46373" y="2423160"/>
            <a:ext cx="138988" cy="27432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02736" y="1783080"/>
            <a:ext cx="1353312" cy="15544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712463" y="1892807"/>
            <a:ext cx="310896" cy="310896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Derive entities + routes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73421" y="2423160"/>
            <a:ext cx="138988" cy="27432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29783" y="1783080"/>
            <a:ext cx="1353312" cy="15544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39512" y="1892807"/>
            <a:ext cx="310896" cy="310896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3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Pages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Generate HTML/CSS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500469" y="2423160"/>
            <a:ext cx="138988" cy="27432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656831" y="1783080"/>
            <a:ext cx="1353312" cy="15544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766559" y="1892807"/>
            <a:ext cx="310896" cy="310896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1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3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Express API + controllers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027517" y="2423160"/>
            <a:ext cx="138988" cy="27432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83879" y="1783080"/>
            <a:ext cx="1353312" cy="15544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93607" y="1892807"/>
            <a:ext cx="310896" cy="310896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MongoDB schema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554565" y="2423160"/>
            <a:ext cx="138988" cy="27432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710928" y="1783080"/>
            <a:ext cx="1353312" cy="15544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820655" y="1892807"/>
            <a:ext cx="310896" cy="31089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2367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Sync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Security barrier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1081613" y="2423160"/>
            <a:ext cx="138988" cy="27432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347703" y="1892807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29415" y="22585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 i="0">
                <a:solidFill>
                  <a:srgbClr val="0F172A"/>
                </a:solidFill>
                <a:latin typeface="Segoe UI"/>
              </a:defRPr>
            </a:pPr>
            <a:r>
              <a:t>Wire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11128" y="2697480"/>
            <a:ext cx="1207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80" b="0" i="0">
                <a:solidFill>
                  <a:srgbClr val="64748B"/>
                </a:solidFill>
                <a:latin typeface="Segoe UI"/>
              </a:defRPr>
            </a:pPr>
            <a:r>
              <a:t>Bind frontend → backend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520440"/>
            <a:ext cx="11091672" cy="47548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360273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50" b="0" i="0">
                <a:solidFill>
                  <a:srgbClr val="0F172A"/>
                </a:solidFill>
                <a:latin typeface="Segoe UI"/>
              </a:defRPr>
            </a:pPr>
            <a:r>
              <a:t>OUTPUT →  HTML pages  +  Express API  +  MongoDB schema  +  frontend/app.js  +  195 passing tests  →  Downloadable ZIP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133087"/>
            <a:ext cx="2670048" cy="24871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m4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60520"/>
            <a:ext cx="2578608" cy="14440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48640" y="649224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64992" y="4133087"/>
            <a:ext cx="2670048" cy="24871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m2-add-search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4160520"/>
            <a:ext cx="2578608" cy="14440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364992" y="649224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81344" y="4133087"/>
            <a:ext cx="2670048" cy="24871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m3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4160520"/>
            <a:ext cx="2578608" cy="14440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181344" y="649224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Pipeline View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97696" y="4133087"/>
            <a:ext cx="2670048" cy="24871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m6-appro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4160520"/>
            <a:ext cx="2578608" cy="14440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997696" y="649224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Approval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18E52AB-651C-47EF-976F-64B6EC9C1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2563EB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System Architecture — Screenshot to Running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chitecture_flow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08"/>
            <a:ext cx="11091672" cy="45802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547104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Green=Start/Output  ·  Blue=User  ·  Purple=AI Pipeline  ·  Amber=DB  ·  Red=Security Gate  ·  Dashed=Feedback loop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28D40C-82F0-4A3F-99CF-309D43D53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7C3AED"/>
                </a:solidFill>
                <a:latin typeface="Segoe UI"/>
              </a:defRPr>
            </a:pPr>
            <a:r>
              <a:t>HARDWARE SWIMLANES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Cross-Functional Data Flow Across All Machines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691640" cy="103327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6002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/ 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91640"/>
            <a:ext cx="9948672" cy="1033271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77870" y="1897380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41878" y="1970532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Open Browser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75108" y="2080260"/>
            <a:ext cx="586313" cy="256032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87060" y="1897380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1068" y="1970532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Upload Screenshot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84299" y="2080260"/>
            <a:ext cx="586313" cy="256032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96251" y="1897380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0259" y="1970532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View Progress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93489" y="2080260"/>
            <a:ext cx="586313" cy="256032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705441" y="1897380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69449" y="1970532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Download ZIP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24912"/>
            <a:ext cx="1691640" cy="103327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2724912"/>
            <a:ext cx="16002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Laptop A</a:t>
            </a:r>
          </a:p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(Frontend)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2724912"/>
            <a:ext cx="9948672" cy="1033271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077870" y="2930652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41878" y="3003804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Serve Dashboard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575108" y="3113532"/>
            <a:ext cx="586313" cy="256032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87060" y="2930652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51068" y="3003804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Stream Progress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784299" y="3113532"/>
            <a:ext cx="586313" cy="256032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96251" y="2930652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0259" y="3003804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Package ZIP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993489" y="3113532"/>
            <a:ext cx="586313" cy="256032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705441" y="2930652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69449" y="3003804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Serve Download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58183"/>
            <a:ext cx="1691640" cy="103327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3758183"/>
            <a:ext cx="16002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Laptop B</a:t>
            </a:r>
          </a:p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(Backend)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3758183"/>
            <a:ext cx="9948672" cy="1033271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077870" y="3963923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41878" y="4037075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Receive Upload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575108" y="4146803"/>
            <a:ext cx="586313" cy="256032"/>
          </a:xfrm>
          <a:prstGeom prst="rightArrow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287060" y="3963923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51068" y="4037075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Run AI Pipeline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784299" y="4146803"/>
            <a:ext cx="586313" cy="256032"/>
          </a:xfrm>
          <a:prstGeom prst="rightArrow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496251" y="3963923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60259" y="4037075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Generate Code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993489" y="4146803"/>
            <a:ext cx="586313" cy="256032"/>
          </a:xfrm>
          <a:prstGeom prst="rightArrow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705441" y="3963923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69449" y="4037075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Write to Disk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791456"/>
            <a:ext cx="1691640" cy="103327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791456"/>
            <a:ext cx="16002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Cloud / GPU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40280" y="4791456"/>
            <a:ext cx="9948672" cy="1033271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077870" y="4997196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41878" y="5070348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LLM Inference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4575108" y="5180076"/>
            <a:ext cx="586313" cy="256032"/>
          </a:xfrm>
          <a:prstGeom prst="rightArrow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287060" y="4997196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51068" y="5070348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Model Evaluations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6784299" y="5180076"/>
            <a:ext cx="586313" cy="256032"/>
          </a:xfrm>
          <a:prstGeom prst="rightArrow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496251" y="4997196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60259" y="5070348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Return JSON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8993489" y="5180076"/>
            <a:ext cx="586313" cy="256032"/>
          </a:xfrm>
          <a:prstGeom prst="rightArrow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705441" y="4997196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69449" y="5070348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50" b="1" i="0">
                <a:solidFill>
                  <a:srgbClr val="0F172A"/>
                </a:solidFill>
                <a:latin typeface="Segoe UI"/>
              </a:defRPr>
            </a:pPr>
            <a:r>
              <a:t>Stream Tokens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70448"/>
            <a:ext cx="1164031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5925312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950" b="0" i="0">
                <a:solidFill>
                  <a:srgbClr val="64748B"/>
                </a:solidFill>
                <a:latin typeface="Segoe UI"/>
              </a:defRPr>
            </a:pPr>
            <a:r>
              <a:t>Data flows: User → Laptop A (upload) → Laptop B (pipeline) → Cloud (LLM) → Laptop B (code) → Laptop A (serve) → User (download)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DC2626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The Gateway — Secure-by-Design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2514" y="2007721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rPr dirty="0"/>
              <a:t>Gateway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84" y="2781850"/>
            <a:ext cx="508406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Schema Validation  </a:t>
            </a:r>
            <a:r>
              <a:rPr sz="1000">
                <a:solidFill>
                  <a:srgbClr val="64748B"/>
                </a:solidFill>
                <a:latin typeface="Segoe UI"/>
              </a:rPr>
              <a:t>Every generated entity validated against a strict JSON schema.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Contract Sync Barrier  </a:t>
            </a:r>
            <a:r>
              <a:rPr sz="1000">
                <a:solidFill>
                  <a:srgbClr val="64748B"/>
                </a:solidFill>
                <a:latin typeface="Segoe UI"/>
              </a:rPr>
              <a:t>Step 7: frontend &amp; backend must share identical field contracts.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Prompt Guardrails  </a:t>
            </a:r>
            <a:r>
              <a:rPr sz="1000">
                <a:solidFill>
                  <a:srgbClr val="64748B"/>
                </a:solidFill>
                <a:latin typeface="Segoe UI"/>
              </a:rPr>
              <a:t>Prompts built programmatically — zero free-text user input to LLM.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Hallucination Lock  </a:t>
            </a:r>
            <a:r>
              <a:rPr sz="1000">
                <a:solidFill>
                  <a:srgbClr val="64748B"/>
                </a:solidFill>
                <a:latin typeface="Segoe UI"/>
              </a:rPr>
              <a:t>LLM sees only screenshot contents — no invented routes or fields.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Test Gate  </a:t>
            </a:r>
            <a:r>
              <a:rPr sz="1000">
                <a:solidFill>
                  <a:srgbClr val="64748B"/>
                </a:solidFill>
                <a:latin typeface="Segoe UI"/>
              </a:rPr>
              <a:t>195 unit + 47 integration tests run before any output is accepted.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987552" cy="749808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8503" y="2011680"/>
            <a:ext cx="877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2563EB"/>
                </a:solidFill>
                <a:latin typeface="Segoe UI"/>
              </a:defRPr>
            </a:pPr>
            <a:r>
              <a:rPr dirty="0"/>
              <a:t>Screenshot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87768" y="2212848"/>
            <a:ext cx="36575" cy="201168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60919" y="1920240"/>
            <a:ext cx="987552" cy="749808"/>
          </a:xfrm>
          <a:prstGeom prst="roundRect">
            <a:avLst/>
          </a:prstGeom>
          <a:solidFill>
            <a:srgbClr val="FEE2E2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5783" y="2011680"/>
            <a:ext cx="877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DC2626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85047" y="2212848"/>
            <a:ext cx="36575" cy="201168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58200" y="1920240"/>
            <a:ext cx="987552" cy="749808"/>
          </a:xfrm>
          <a:prstGeom prst="roundRect">
            <a:avLst/>
          </a:prstGeom>
          <a:solidFill>
            <a:srgbClr val="EDE9FE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13064" y="2011680"/>
            <a:ext cx="877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7C3AED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82328" y="2212848"/>
            <a:ext cx="36575" cy="201168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55480" y="1920240"/>
            <a:ext cx="987552" cy="749808"/>
          </a:xfrm>
          <a:prstGeom prst="roundRect">
            <a:avLst/>
          </a:prstGeom>
          <a:solidFill>
            <a:srgbClr val="FEE2E2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10344" y="2011680"/>
            <a:ext cx="877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DC2626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579607" y="2212848"/>
            <a:ext cx="36575" cy="201168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652759" y="1920240"/>
            <a:ext cx="987552" cy="749808"/>
          </a:xfrm>
          <a:prstGeom prst="roundRect">
            <a:avLst/>
          </a:prstGeom>
          <a:solidFill>
            <a:srgbClr val="D1FAE5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07624" y="2011680"/>
            <a:ext cx="877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10B981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880360"/>
            <a:ext cx="1234440" cy="1261872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980944"/>
            <a:ext cx="1106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400" b="1" i="0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538775"/>
            <a:ext cx="1106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Hallucination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16952" y="2880360"/>
            <a:ext cx="1234440" cy="1261872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2980944"/>
            <a:ext cx="1106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400" b="1" i="0">
                <a:solidFill>
                  <a:srgbClr val="DC2626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493008"/>
            <a:ext cx="1106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Contract Sync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0263" y="2880360"/>
            <a:ext cx="1234440" cy="1261872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34272" y="2980944"/>
            <a:ext cx="1106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400" b="1" i="0">
                <a:solidFill>
                  <a:srgbClr val="DC2626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3493008"/>
            <a:ext cx="1106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Tests 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23576" y="2880360"/>
            <a:ext cx="1234440" cy="1261872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87584" y="2980944"/>
            <a:ext cx="1106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400" b="1" i="0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3493008"/>
            <a:ext cx="1106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Free-text Prompts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BD1D9D0-94B8-47F9-92D6-20D0F66E9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7C3AED"/>
                </a:solidFill>
                <a:latin typeface="Segoe UI"/>
              </a:defRPr>
            </a:pPr>
            <a:r>
              <a:t>BACKEND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Login API — Generated Entirely from a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4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69280" cy="31747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691640"/>
            <a:ext cx="55778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46520" y="1691640"/>
            <a:ext cx="55778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1837944"/>
            <a:ext cx="51755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What Gets Auto-Generated</a:t>
            </a:r>
            <a:r>
              <a:rPr sz="900" b="1">
                <a:solidFill>
                  <a:srgbClr val="10B981"/>
                </a:solidFill>
              </a:rPr>
              <a:t>  · VERIFIED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258568"/>
            <a:ext cx="5175503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7C3AED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Route  </a:t>
            </a:r>
            <a:r>
              <a:rPr sz="1000">
                <a:solidFill>
                  <a:srgbClr val="64748B"/>
                </a:solidFill>
                <a:latin typeface="Segoe UI"/>
              </a:rPr>
              <a:t>POST /api/auth/login endpoint wired end-to-end.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7C3AED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Auth Logic  </a:t>
            </a:r>
            <a:r>
              <a:rPr sz="1000">
                <a:solidFill>
                  <a:srgbClr val="64748B"/>
                </a:solidFill>
                <a:latin typeface="Segoe UI"/>
              </a:rPr>
              <a:t>bcrypt password compare + JWT / cookie session token.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7C3AED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Middleware  </a:t>
            </a:r>
            <a:r>
              <a:rPr sz="1000">
                <a:solidFill>
                  <a:srgbClr val="64748B"/>
                </a:solidFill>
                <a:latin typeface="Segoe UI"/>
              </a:rPr>
              <a:t>`requireLogin` guard auto-applied to all data routes.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7C3AED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User Schema  </a:t>
            </a:r>
            <a:r>
              <a:rPr sz="1000">
                <a:solidFill>
                  <a:srgbClr val="64748B"/>
                </a:solidFill>
                <a:latin typeface="Segoe UI"/>
              </a:rPr>
              <a:t>MongoDB model: email, passwordHash, timestamps.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7C3AED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Unit Tests  </a:t>
            </a:r>
            <a:r>
              <a:rPr sz="1000">
                <a:solidFill>
                  <a:srgbClr val="64748B"/>
                </a:solidFill>
                <a:latin typeface="Segoe UI"/>
              </a:rPr>
              <a:t>Route + middleware automatically tested in CI.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EC9C61-0479-418E-B87A-39C541C94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10B981"/>
                </a:solidFill>
                <a:latin typeface="Segoe UI"/>
              </a:defRPr>
            </a:pPr>
            <a:r>
              <a:t>FRONTEND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Step 15 — The Runtime Wirer (frontend/app.js)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5778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5778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37944"/>
            <a:ext cx="51755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How the Binder Works</a:t>
            </a:r>
            <a:r>
              <a:rPr sz="900" b="1">
                <a:solidFill>
                  <a:srgbClr val="10B981"/>
                </a:solidFill>
              </a:rPr>
              <a:t>  · STEP 15 VERIFIED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58568"/>
            <a:ext cx="5175503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Zero Build Steps  </a:t>
            </a:r>
            <a:r>
              <a:rPr sz="1000">
                <a:solidFill>
                  <a:srgbClr val="64748B"/>
                </a:solidFill>
                <a:latin typeface="Segoe UI"/>
              </a:rPr>
              <a:t>Vanilla JS injected at download time. No webpack, no bundler needed.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Clone Designer Rows  </a:t>
            </a:r>
            <a:r>
              <a:rPr sz="1000">
                <a:solidFill>
                  <a:srgbClr val="64748B"/>
                </a:solidFill>
                <a:latin typeface="Segoe UI"/>
              </a:rPr>
              <a:t>New rows inherit exact Tailwind classes from the original template.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Format Retention  </a:t>
            </a:r>
            <a:r>
              <a:rPr sz="1000">
                <a:solidFill>
                  <a:srgbClr val="64748B"/>
                </a:solidFill>
                <a:latin typeface="Segoe UI"/>
              </a:rPr>
              <a:t>Preserves $2.50 currency, status badges, and date formats exactly.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In-Row Editing  </a:t>
            </a:r>
            <a:r>
              <a:rPr sz="1000">
                <a:solidFill>
                  <a:srgbClr val="64748B"/>
                </a:solidFill>
                <a:latin typeface="Segoe UI"/>
              </a:rPr>
              <a:t>Add/Edit without a modal — Save with Enter, Cancel with Esc.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</a:rPr>
              <a:t>▸ </a:t>
            </a:r>
            <a:r>
              <a:rPr sz="1050" b="1">
                <a:solidFill>
                  <a:srgbClr val="0F172A"/>
                </a:solidFill>
                <a:latin typeface="Segoe UI"/>
              </a:rPr>
              <a:t>Chrome Verified  </a:t>
            </a:r>
            <a:r>
              <a:rPr sz="1000">
                <a:solidFill>
                  <a:srgbClr val="64748B"/>
                </a:solidFill>
                <a:latin typeface="Segoe UI"/>
              </a:rPr>
              <a:t>7/7 headless-Chrome smoke tests pass: clicks, submits, reloads.</a:t>
            </a:r>
          </a:p>
        </p:txBody>
      </p:sp>
      <p:pic>
        <p:nvPicPr>
          <p:cNvPr id="11" name="Picture 10" descr="m2-add-search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5897880" cy="33028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BF4E41-A2E5-4A3C-AD51-24AFD4661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DC2626"/>
                </a:solidFill>
                <a:latin typeface="Segoe UI"/>
              </a:defRPr>
            </a:pPr>
            <a:r>
              <a:t>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Why AndarKaCode — Not Existing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928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DC2626"/>
                </a:solidFill>
                <a:latin typeface="Segoe UI"/>
              </a:defRPr>
            </a:pPr>
            <a:r>
              <a:t>vs GitHub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Copilot writes code snippets.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deliver a complete, tested, running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657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7C3AED"/>
                </a:solidFill>
                <a:latin typeface="Segoe UI"/>
              </a:defRPr>
            </a:pPr>
            <a:r>
              <a:t>vs GPT-4 /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LLMs guess your data model.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derive it directly from your screenshot.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8928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D97706"/>
                </a:solidFill>
                <a:latin typeface="Segoe UI"/>
              </a:defRPr>
            </a:pPr>
            <a:r>
              <a:t>vs Low-code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Platforms lock you in.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output open-source, editable source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052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36576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15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2563EB"/>
                </a:solidFill>
                <a:latin typeface="Segoe UI"/>
              </a:defRPr>
            </a:pPr>
            <a:r>
              <a:t>vs Freelancers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5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Freelancer: 2 weeks + $$$$.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AndarKaCode: 3 minutes, $0.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16052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4160520"/>
            <a:ext cx="3657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4315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10B981"/>
                </a:solidFill>
                <a:latin typeface="Segoe UI"/>
              </a:defRPr>
            </a:pPr>
            <a:r>
              <a:t>vs Cloud AI 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70915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APIs bill per token, forever.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Segoe UI"/>
              </a:defRPr>
            </a:pPr>
            <a:r>
              <a:t>Our local GPU means zero recurring cost.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95627C6-CAD4-4A1F-834E-F2F8FF76C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2563EB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0F172A"/>
                </a:solidFill>
                <a:latin typeface="Segoe UI"/>
              </a:defRPr>
            </a:pPr>
            <a:r>
              <a:t>From MVP to Platform — Where We're Headed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19072"/>
            <a:ext cx="3703320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19072"/>
            <a:ext cx="37033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2563EB"/>
                </a:solidFill>
                <a:latin typeface="Segoe UI"/>
              </a:defRPr>
            </a:pPr>
            <a:r>
              <a:t>v1 ·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✅  Full-stack app from any UI screenshot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✅  195 unit tests — 100% passing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✅  Headless Chrome smoke test suite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✅  Metro-line real-time dashboard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Segoe UI"/>
              </a:rPr>
              <a:t>✅  JWT auth + MongoDB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19072"/>
            <a:ext cx="3703320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25696" y="1719072"/>
            <a:ext cx="3703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188366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10B981"/>
                </a:solidFill>
                <a:latin typeface="Segoe UI"/>
              </a:defRPr>
            </a:pPr>
            <a:r>
              <a:t>v2 ·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359152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Multi-page screenshot support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OAuth + role-based access control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One-click cloud deploy (Railway/Render)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Plugin system for custom components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Dark-mode UI template library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719072"/>
            <a:ext cx="3703320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02752" y="1719072"/>
            <a:ext cx="37033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88366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7C3AED"/>
                </a:solidFill>
                <a:latin typeface="Segoe UI"/>
              </a:defRPr>
            </a:pPr>
            <a:r>
              <a:t>v3 ·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59152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Natural-language spec input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Live Figma-to-code sync plugin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AI-driven test case generation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Community template marketplace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  <a:latin typeface="Segoe UI"/>
              </a:rPr>
              <a:t>⬜  SaaS version with team workspaces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585C285-2169-411C-BDE1-C1CE53165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01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Build Your First App From a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19072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50" b="0" i="0">
                <a:solidFill>
                  <a:srgbClr val="94A3B8"/>
                </a:solidFill>
                <a:latin typeface="Segoe UI"/>
              </a:defRPr>
            </a:pPr>
            <a:r>
              <a:t>One command. Your screenshot. A complete, tested, ready-to-run React + Express + MongoDB app in under 3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487168"/>
            <a:ext cx="6702552" cy="804672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2615184"/>
            <a:ext cx="6336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10B981"/>
                </a:solidFill>
                <a:latin typeface="Courier New"/>
              </a:defRPr>
            </a:pPr>
            <a:r>
              <a:t>$  python pipeline.py  samples/my-design.png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547872"/>
            <a:ext cx="3044952" cy="65836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Get Started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572000"/>
            <a:ext cx="2103120" cy="1554480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2103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4718304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800" b="1" i="0">
                <a:solidFill>
                  <a:srgbClr val="DBEAFE"/>
                </a:solidFill>
                <a:latin typeface="Segoe UI"/>
              </a:defRPr>
            </a:pPr>
            <a:r>
              <a:t>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2852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0752" y="4572000"/>
            <a:ext cx="2103120" cy="1554480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30752" y="4572000"/>
            <a:ext cx="2103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22191" y="4718304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800" b="1" i="0">
                <a:solidFill>
                  <a:srgbClr val="DBEAFE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52852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Cloud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4572000"/>
            <a:ext cx="2103120" cy="1554480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9904" y="4572000"/>
            <a:ext cx="2103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81344" y="4718304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800" b="1" i="0">
                <a:solidFill>
                  <a:srgbClr val="DBEAFE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52852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Tests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9056" y="4572000"/>
            <a:ext cx="2103120" cy="1554480"/>
          </a:xfrm>
          <a:prstGeom prst="roundRect">
            <a:avLst/>
          </a:prstGeom>
          <a:solidFill>
            <a:srgbClr val="16203A"/>
          </a:solidFill>
          <a:ln w="10160">
            <a:solidFill>
              <a:srgbClr val="32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49056" y="4572000"/>
            <a:ext cx="2103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0496" y="4718304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800" b="1" i="0">
                <a:solidFill>
                  <a:srgbClr val="DBEAFE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52852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Hallucination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C1C"/>
          </a:solidFill>
          <a:ln w="12700">
            <a:solidFill>
              <a:srgbClr val="08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675120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850" b="0" i="0">
                <a:solidFill>
                  <a:srgbClr val="64748B"/>
                </a:solidFill>
                <a:latin typeface="Segoe UI"/>
              </a:defRPr>
            </a:pPr>
            <a:r>
              <a:t>AndarKaCode  ·  github.com/your-repo  ·  Python · React · Express · MongoDB ·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1040</Words>
  <Application>Microsoft Office PowerPoint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Harmanpreet Singh</cp:lastModifiedBy>
  <cp:revision>6</cp:revision>
  <dcterms:created xsi:type="dcterms:W3CDTF">2013-01-27T09:14:16Z</dcterms:created>
  <dcterms:modified xsi:type="dcterms:W3CDTF">2026-10-22T06:42:31Z</dcterms:modified>
  <cp:category/>
</cp:coreProperties>
</file>