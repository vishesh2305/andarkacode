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2926080" cy="3657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PROJECT PRESENTATION • OCT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8FAFC"/>
                </a:solidFill>
              </a:defRPr>
            </a:pPr>
            <a:r>
              <a:t>AndarKaCode</a:t>
            </a:r>
          </a:p>
          <a:p>
            <a:pPr>
              <a:spcBef>
                <a:spcPts val="1000"/>
              </a:spcBef>
              <a:defRPr sz="2000">
                <a:solidFill>
                  <a:srgbClr val="0EA5E9"/>
                </a:solidFill>
              </a:defRPr>
            </a:pPr>
            <a:r>
              <a:t>Screenshot in, working full-stack app out.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Deterministic full-stack code generation backed by visible UI evidence.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669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Current Milestones Completed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F8FAFC"/>
                </a:solidFill>
              </a:rPr>
              <a:t>✓ Steps 1–12 &amp; 15 — </a:t>
            </a:r>
            <a:r>
              <a:rPr sz="1050">
                <a:solidFill>
                  <a:srgbClr val="94A3B8"/>
                </a:solidFill>
              </a:rPr>
              <a:t>All core services, templates, auth &amp; runtime wirer built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F8FAFC"/>
                </a:solidFill>
              </a:rPr>
              <a:t>✓ UI v1 Dashboard — </a:t>
            </a:r>
            <a:r>
              <a:rPr sz="1050">
                <a:solidFill>
                  <a:srgbClr val="94A3B8"/>
                </a:solidFill>
              </a:rPr>
              <a:t>Live Metro-line visual tracking with ZIP export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F8FAFC"/>
                </a:solidFill>
              </a:rPr>
              <a:t>✓ Test Verification — </a:t>
            </a:r>
            <a:r>
              <a:rPr sz="1050">
                <a:solidFill>
                  <a:srgbClr val="94A3B8"/>
                </a:solidFill>
              </a:rPr>
              <a:t>195 unit tests + 47 integration tests passing green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28701" y="1097280"/>
            <a:ext cx="468512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employ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479" y="1463040"/>
            <a:ext cx="4206240" cy="387918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THE PROBLEM &amp; THE GUIDING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Why Existing LLM Generators Fail vs. 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Pure AI guesses; AndarKaCode derives deterministic code strictly from visual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The LLM Hallucination Trap</a:t>
            </a:r>
            <a:r>
              <a:rPr sz="1000" b="1">
                <a:solidFill>
                  <a:srgbClr val="EF4444"/>
                </a:solidFill>
              </a:rPr>
              <a:t>  [BROKEN]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21"/>
            <a:ext cx="466344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Ghost Endpoints: </a:t>
            </a:r>
            <a:r>
              <a:rPr sz="1100" dirty="0">
                <a:solidFill>
                  <a:srgbClr val="475569"/>
                </a:solidFill>
              </a:rPr>
              <a:t>LLMs invent unrequested database tables, roles, and endpoints not shown on screen.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Broken Integration: </a:t>
            </a:r>
            <a:r>
              <a:rPr sz="1100" dirty="0">
                <a:solidFill>
                  <a:srgbClr val="475569"/>
                </a:solidFill>
              </a:rPr>
              <a:t>Frontend form fields and backend route names desynchronize, causing broken buttons.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No Ground Truth: </a:t>
            </a:r>
            <a:r>
              <a:rPr sz="1100" dirty="0">
                <a:solidFill>
                  <a:srgbClr val="475569"/>
                </a:solidFill>
              </a:rPr>
              <a:t>Minor prompt changes produce completely different APIs and database structures.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Our Solution: 'No Evidence, No Code'</a:t>
            </a:r>
            <a:r>
              <a:rPr sz="1000" b="1">
                <a:solidFill>
                  <a:srgbClr val="10B981"/>
                </a:solidFill>
              </a:rPr>
              <a:t>  [DETERMINISTIC]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514601"/>
            <a:ext cx="466344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Traceable Ground Truth: </a:t>
            </a:r>
            <a:r>
              <a:rPr sz="1100" dirty="0">
                <a:solidFill>
                  <a:srgbClr val="475569"/>
                </a:solidFill>
              </a:rPr>
              <a:t>Every model, route, and validator points to an exact visual element on the screenshot.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Deterministic Rule Table: </a:t>
            </a:r>
            <a:r>
              <a:rPr sz="1100" dirty="0">
                <a:solidFill>
                  <a:srgbClr val="475569"/>
                </a:solidFill>
              </a:rPr>
              <a:t>Fixed derivation rules convert visible UI widgets into an App Spec (no AI guessing).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Dual-Direction Rule: </a:t>
            </a:r>
            <a:r>
              <a:rPr sz="1100" dirty="0">
                <a:solidFill>
                  <a:srgbClr val="475569"/>
                </a:solidFill>
              </a:rPr>
              <a:t>Every visible control has a backend route; no backend route exists without a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29200"/>
            <a:ext cx="106984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HOW EVIDENCE WORKS IN PRACTICE: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Table of employees with Edit/Delete ➔ List, Update, Delete for employee (Create is excluded if no Add button is visible).</a:t>
            </a:r>
            <a:br/>
            <a:r>
              <a:t>• 'Add Employee' button + search box ➔ Adds Create endpoint, schema validation, and text search filtering.</a:t>
            </a:r>
            <a:br/>
            <a:r>
              <a:t>• Login form visible ➔ Adds Account model, scrypt password hashing, session tokens, and route protection (zero auth code if omitted).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ARCHITECTURE FLOWCHART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End-to-End Pipeline: From Image to Running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The 5-stage transformation pipeline coordinated by the state machine.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92024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965960"/>
            <a:ext cx="1645920" cy="4114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STAGE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869" y="265176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rPr dirty="0"/>
              <a:t>1. Upload &amp;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1737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SHA-256 hash</a:t>
            </a:r>
            <a:br/>
            <a:r>
              <a:t>Scale ≤ 1280px</a:t>
            </a:r>
            <a:br/>
            <a:r>
              <a:t>Run workspace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97480" y="3108960"/>
            <a:ext cx="182880" cy="27432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26080" y="1828800"/>
            <a:ext cx="192024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063240" y="1965960"/>
            <a:ext cx="1645920" cy="4114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STAGE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65176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2. Vision Inventory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154680"/>
            <a:ext cx="1737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Ollama / Gemini</a:t>
            </a:r>
            <a:br/>
            <a:r>
              <a:t>Detects tables, buttons</a:t>
            </a:r>
            <a:br/>
            <a:r>
              <a:t>inputs &amp; stat cards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92040" y="3108960"/>
            <a:ext cx="182880" cy="27432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120640" y="1828800"/>
            <a:ext cx="192024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57800" y="1965960"/>
            <a:ext cx="1645920" cy="411480"/>
          </a:xfrm>
          <a:prstGeom prst="roundRect">
            <a:avLst/>
          </a:prstGeom>
          <a:solidFill>
            <a:srgbClr val="9333EA"/>
          </a:solidFill>
          <a:ln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STAGE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8308" y="2619238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3. Spec Deriver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9" y="3154680"/>
            <a:ext cx="1737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Rule table mapping</a:t>
            </a:r>
            <a:br/>
            <a:r>
              <a:t>Attaches UI evidence</a:t>
            </a:r>
            <a:br/>
            <a:r>
              <a:t>Generates contract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599" y="3108960"/>
            <a:ext cx="182880" cy="27432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315199" y="1828800"/>
            <a:ext cx="192024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52359" y="1965960"/>
            <a:ext cx="1645920" cy="4114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STAGE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305" y="2628665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4. Dual Generation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154680"/>
            <a:ext cx="1737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Frontend (GPU)</a:t>
            </a:r>
            <a:br/>
            <a:r>
              <a:t>Backend (Templates)</a:t>
            </a:r>
            <a:br/>
            <a:r>
              <a:t>Sync Barrier check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281160" y="3108960"/>
            <a:ext cx="182880" cy="27432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509760" y="1828800"/>
            <a:ext cx="192024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646920" y="1965960"/>
            <a:ext cx="1645920" cy="41148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STAGE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7541" y="256032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5. Wire &amp; Package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154680"/>
            <a:ext cx="1737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75569"/>
                </a:solidFill>
              </a:defRPr>
            </a:pPr>
            <a:r>
              <a:t>Runtime app.js binder</a:t>
            </a:r>
            <a:br/>
            <a:r>
              <a:t>api-map.json</a:t>
            </a:r>
            <a:br/>
            <a:r>
              <a:t>Downloadable ZIP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6984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CORE GUARANTEE: THE SYNC BARRIER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Stage 4 runs as two asynchronous branches: the frontend runs on the GPU while the backend is generated from templates. Stage 5 (Wiring &amp; Delivery) is physically blocked by the Sync Barrier until both sides carry the exact same Contract SHA-256 fingerprint.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DISTRIBUTED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Dual-Laptop Microservices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Decoupling GPU vision workloads from the orchestrator and state machine.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19" y="1645920"/>
            <a:ext cx="5059681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rPr dirty="0"/>
              <a:t>Laptop A: Orchestrator (Mac)</a:t>
            </a:r>
            <a:r>
              <a:rPr sz="1000" b="1" dirty="0">
                <a:solidFill>
                  <a:srgbClr val="2563EB"/>
                </a:solidFill>
              </a:rPr>
              <a:t>  [ORCHESTRATOR]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88920"/>
            <a:ext cx="44805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Builder API (:4000): </a:t>
            </a:r>
            <a:r>
              <a:rPr sz="1100" dirty="0">
                <a:solidFill>
                  <a:srgbClr val="475569"/>
                </a:solidFill>
              </a:rPr>
              <a:t>Express 5 state machine managing project lifecycles (`UPLOADED` ➔ `SYNCED`).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Database Layer: </a:t>
            </a:r>
            <a:r>
              <a:rPr sz="1100" dirty="0">
                <a:solidFill>
                  <a:srgbClr val="475569"/>
                </a:solidFill>
              </a:rPr>
              <a:t>MongoDB `</a:t>
            </a:r>
            <a:r>
              <a:rPr sz="1100" dirty="0" err="1">
                <a:solidFill>
                  <a:srgbClr val="475569"/>
                </a:solidFill>
              </a:rPr>
              <a:t>builder_db</a:t>
            </a:r>
            <a:r>
              <a:rPr sz="1100" dirty="0">
                <a:solidFill>
                  <a:srgbClr val="475569"/>
                </a:solidFill>
              </a:rPr>
              <a:t>` storing immutable contract revisions, jobs, and specs.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UI Inventory &amp; Spec Deriver: </a:t>
            </a:r>
            <a:r>
              <a:rPr sz="1100" dirty="0">
                <a:solidFill>
                  <a:srgbClr val="475569"/>
                </a:solidFill>
              </a:rPr>
              <a:t>Vision pass &amp; rule engine compiling the App Spec with visible evidence.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Template Code Generator: </a:t>
            </a:r>
            <a:r>
              <a:rPr sz="1100" dirty="0">
                <a:solidFill>
                  <a:srgbClr val="475569"/>
                </a:solidFill>
              </a:rPr>
              <a:t>Compiles production-ready Express + Mongoose CRUD controllers in &lt;1s.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Web Presentation UI (:5173): </a:t>
            </a:r>
            <a:r>
              <a:rPr sz="1100" dirty="0">
                <a:solidFill>
                  <a:srgbClr val="475569"/>
                </a:solidFill>
              </a:rPr>
              <a:t>React / </a:t>
            </a:r>
            <a:r>
              <a:rPr sz="1100" dirty="0" err="1">
                <a:solidFill>
                  <a:srgbClr val="475569"/>
                </a:solidFill>
              </a:rPr>
              <a:t>Vite</a:t>
            </a:r>
            <a:r>
              <a:rPr sz="1100" dirty="0">
                <a:solidFill>
                  <a:srgbClr val="475569"/>
                </a:solidFill>
              </a:rPr>
              <a:t> live Metro-line pipeline tracker and ZIP packager.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2926080"/>
            <a:ext cx="59436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T</a:t>
            </a:r>
            <a:br/>
            <a:r>
              <a:t>A</a:t>
            </a:r>
            <a:br/>
            <a:r>
              <a:t>I</a:t>
            </a:r>
            <a:br/>
            <a:r>
              <a:t>L</a:t>
            </a:r>
            <a:br/>
            <a:r>
              <a:t>S</a:t>
            </a:r>
            <a:br/>
            <a:r>
              <a:t>C</a:t>
            </a:r>
            <a:br/>
            <a:r>
              <a:t>A</a:t>
            </a:r>
            <a:br/>
            <a:r>
              <a:t>L</a:t>
            </a:r>
            <a:br/>
            <a:r>
              <a:t>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645920"/>
            <a:ext cx="50749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6560" y="2013565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rPr dirty="0"/>
              <a:t>Laptop B: GPU Worker (Windows 11)</a:t>
            </a:r>
            <a:r>
              <a:rPr sz="1000" b="1" dirty="0">
                <a:solidFill>
                  <a:srgbClr val="9333EA"/>
                </a:solidFill>
              </a:rPr>
              <a:t>  [GPU WORKER]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4507" y="2834640"/>
            <a:ext cx="448056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Ollama (:11434): </a:t>
            </a:r>
            <a:r>
              <a:rPr sz="1100">
                <a:solidFill>
                  <a:srgbClr val="475569"/>
                </a:solidFill>
              </a:rPr>
              <a:t>Runs `qwen3-vl:8b` fully on GPU with 16k context window for image understanding.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Screenshot-to-Code (:7001): </a:t>
            </a:r>
            <a:r>
              <a:rPr sz="1100">
                <a:solidFill>
                  <a:srgbClr val="475569"/>
                </a:solidFill>
              </a:rPr>
              <a:t>Specialized engine redrawing screenshots into clean HTML + Tailwind CSS.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Gateway REST Queue (:8787): </a:t>
            </a:r>
            <a:r>
              <a:rPr sz="1100">
                <a:solidFill>
                  <a:srgbClr val="475569"/>
                </a:solidFill>
              </a:rPr>
              <a:t>Lightweight Express front-door enforcing strict single-concurrency queue.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Security Header: </a:t>
            </a:r>
            <a:r>
              <a:rPr sz="1100">
                <a:solidFill>
                  <a:srgbClr val="475569"/>
                </a:solidFill>
              </a:rPr>
              <a:t>Private Tailscale IP access secured by mandatory `X-API-Key` authentication.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Cloud Auto-Fallback: </a:t>
            </a:r>
            <a:r>
              <a:rPr sz="1100">
                <a:solidFill>
                  <a:srgbClr val="475569"/>
                </a:solidFill>
              </a:rPr>
              <a:t>Automatic switchover to Gemini 3 Flash Preview if local VRAM saturates.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ENGINE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Key Patches Made to Screenshot-to-Code (S2C)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Real engineering fixes applied to make S2C reliable, fast, and deterministic.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1. Bounded Agent Loops (max_steps: 6)</a:t>
            </a:r>
            <a:r>
              <a:rPr sz="1000" b="1">
                <a:solidFill>
                  <a:srgbClr val="10B981"/>
                </a:solidFill>
              </a:rPr>
              <a:t>  [STABILITY]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6634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Problem: </a:t>
            </a:r>
            <a:r>
              <a:rPr sz="1100">
                <a:solidFill>
                  <a:srgbClr val="475569"/>
                </a:solidFill>
              </a:rPr>
              <a:t>Default S2C ran for 30 steps and continued executing indefinitely after client disconnects.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Fix: </a:t>
            </a:r>
            <a:r>
              <a:rPr sz="1100">
                <a:solidFill>
                  <a:srgbClr val="475569"/>
                </a:solidFill>
              </a:rPr>
              <a:t>Capped `max_steps = 6` and added early completion acceptance 60s after `&lt;/html&gt;` appears.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2. Single Variant Mode (NUM_VARIANTS: 1)</a:t>
            </a:r>
            <a:r>
              <a:rPr sz="1000" b="1">
                <a:solidFill>
                  <a:srgbClr val="10B981"/>
                </a:solidFill>
              </a:rPr>
              <a:t>  [PERFORMANCE]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31720"/>
            <a:ext cx="46634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Problem: </a:t>
            </a:r>
            <a:r>
              <a:rPr sz="1100">
                <a:solidFill>
                  <a:srgbClr val="475569"/>
                </a:solidFill>
              </a:rPr>
              <a:t>Default S2C generated 4 variants simultaneously, overflowing 8 GB GPU VRAM.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Fix: </a:t>
            </a:r>
            <a:r>
              <a:rPr sz="1100">
                <a:solidFill>
                  <a:srgbClr val="475569"/>
                </a:solidFill>
              </a:rPr>
              <a:t>Set `NUM_VARIANTS = 1`, cutting generation time from &gt;5 minutes down to ~110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42976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3. Windows OS &amp; Platform Fixes</a:t>
            </a:r>
            <a:r>
              <a:rPr sz="1000" b="1">
                <a:solidFill>
                  <a:srgbClr val="10B981"/>
                </a:solidFill>
              </a:rPr>
              <a:t>  [COMPATIBILITY]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09160"/>
            <a:ext cx="46634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UTF-8 Logging: </a:t>
            </a:r>
            <a:r>
              <a:rPr sz="1100">
                <a:solidFill>
                  <a:srgbClr val="475569"/>
                </a:solidFill>
              </a:rPr>
              <a:t>Forced UTF-8 on Windows stdout/stderr to eliminate crashes on CP1252 character prints.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Proactor Event Loop: </a:t>
            </a:r>
            <a:r>
              <a:rPr sz="1100">
                <a:solidFill>
                  <a:srgbClr val="475569"/>
                </a:solidFill>
              </a:rPr>
              <a:t>Configured `loop='none'` on Windows uvicorn, enabling subprocesses (Playwright).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114800"/>
            <a:ext cx="51206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42976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4. Ollama &amp; Contract Marker Support</a:t>
            </a:r>
            <a:r>
              <a:rPr sz="1000" b="1">
                <a:solidFill>
                  <a:srgbClr val="10B981"/>
                </a:solidFill>
              </a:rPr>
              <a:t>  [INTEGRATION]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709160"/>
            <a:ext cx="46634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Ollama Fallback: </a:t>
            </a:r>
            <a:r>
              <a:rPr sz="1100">
                <a:solidFill>
                  <a:srgbClr val="475569"/>
                </a:solidFill>
              </a:rPr>
              <a:t>Automatically detects and strips unsupported `reasoning` payloads from local models.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2563EB"/>
                </a:solidFill>
              </a:rPr>
              <a:t>• </a:t>
            </a:r>
            <a:r>
              <a:rPr sz="1150" b="1">
                <a:solidFill>
                  <a:srgbClr val="0F172A"/>
                </a:solidFill>
              </a:rPr>
              <a:t>Injected HTML Markers: </a:t>
            </a:r>
            <a:r>
              <a:rPr sz="1100">
                <a:solidFill>
                  <a:srgbClr val="475569"/>
                </a:solidFill>
              </a:rPr>
              <a:t>Instructs vision generation to output explicit `data-field` and `data-action` tags.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CONSISTENCY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Dual-Branch Synchronization &amp; The Sync Barrier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Preventing race conditions when frontend and backend generation run at vastly different speeds.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Branch A: Frontend (GPU)</a:t>
            </a:r>
            <a:r>
              <a:rPr sz="1000" b="1">
                <a:solidFill>
                  <a:srgbClr val="10B981"/>
                </a:solidFill>
              </a:rPr>
              <a:t>  [SLOW BRANCH]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251460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Execution Time: </a:t>
            </a:r>
            <a:r>
              <a:rPr sz="1100" dirty="0">
                <a:solidFill>
                  <a:srgbClr val="475569"/>
                </a:solidFill>
              </a:rPr>
              <a:t>~2.5 to 4 minutes per page on GPU.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Output: </a:t>
            </a:r>
            <a:r>
              <a:rPr sz="1100" dirty="0">
                <a:solidFill>
                  <a:srgbClr val="475569"/>
                </a:solidFill>
              </a:rPr>
              <a:t>HTML + Tailwind CSS with `data-field` markers.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Fingerprint: </a:t>
            </a:r>
            <a:r>
              <a:rPr sz="1100" dirty="0">
                <a:solidFill>
                  <a:srgbClr val="475569"/>
                </a:solidFill>
              </a:rPr>
              <a:t>Stamped with source `</a:t>
            </a:r>
            <a:r>
              <a:rPr sz="1100" dirty="0" err="1">
                <a:solidFill>
                  <a:srgbClr val="475569"/>
                </a:solidFill>
              </a:rPr>
              <a:t>contractHash</a:t>
            </a:r>
            <a:r>
              <a:rPr sz="1100" dirty="0">
                <a:solidFill>
                  <a:srgbClr val="475569"/>
                </a:solidFill>
              </a:rPr>
              <a:t>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Branch B: Backend (Templates)</a:t>
            </a:r>
            <a:r>
              <a:rPr sz="1000" b="1">
                <a:solidFill>
                  <a:srgbClr val="10B981"/>
                </a:solidFill>
              </a:rPr>
              <a:t>  [FAST BRANCH]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5603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Execution Time: </a:t>
            </a:r>
            <a:r>
              <a:rPr sz="1100" dirty="0">
                <a:solidFill>
                  <a:srgbClr val="475569"/>
                </a:solidFill>
              </a:rPr>
              <a:t>&lt; 100 milliseconds from deterministic templates.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Output: </a:t>
            </a:r>
            <a:r>
              <a:rPr sz="1100" dirty="0">
                <a:solidFill>
                  <a:srgbClr val="475569"/>
                </a:solidFill>
              </a:rPr>
              <a:t>Express routes, Mongoose models, and test suites.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Fingerprint: </a:t>
            </a:r>
            <a:r>
              <a:rPr sz="1100" dirty="0">
                <a:solidFill>
                  <a:srgbClr val="475569"/>
                </a:solidFill>
              </a:rPr>
              <a:t>Stamped with source `</a:t>
            </a:r>
            <a:r>
              <a:rPr sz="1100" dirty="0" err="1">
                <a:solidFill>
                  <a:srgbClr val="475569"/>
                </a:solidFill>
              </a:rPr>
              <a:t>contractHash</a:t>
            </a:r>
            <a:r>
              <a:rPr sz="1100" dirty="0">
                <a:solidFill>
                  <a:srgbClr val="475569"/>
                </a:solidFill>
              </a:rPr>
              <a:t>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1069848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HOW THE SYNC BARRIER ENFORCES CONSISTENCY: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F8FAFC"/>
                </a:solidFill>
              </a:rPr>
              <a:t>• Immutable Hash Stamping: </a:t>
            </a:r>
            <a:r>
              <a:rPr sz="1050">
                <a:solidFill>
                  <a:srgbClr val="94A3B8"/>
                </a:solidFill>
              </a:rPr>
              <a:t>Every artifact carries the 64-character SHA-256 hash of the exact spec it was built from.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F8FAFC"/>
                </a:solidFill>
              </a:rPr>
              <a:t>• Barrier Gatekeeping: </a:t>
            </a:r>
            <a:r>
              <a:rPr sz="1050">
                <a:solidFill>
                  <a:srgbClr val="94A3B8"/>
                </a:solidFill>
              </a:rPr>
              <a:t>The project state machine refuses to enter `SYNCED` until every page and the backend share the exact same hash.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F8FAFC"/>
                </a:solidFill>
              </a:rPr>
              <a:t>• Automated Superseding: </a:t>
            </a:r>
            <a:r>
              <a:rPr sz="1050">
                <a:solidFill>
                  <a:srgbClr val="94A3B8"/>
                </a:solidFill>
              </a:rPr>
              <a:t>If the user modifies an input label while building, obsolete GPU jobs are marked `cancelled`, and new builds re-sync.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F8FAFC"/>
                </a:solidFill>
              </a:rPr>
              <a:t>• Instant Cache Replay: </a:t>
            </a:r>
            <a:r>
              <a:rPr sz="1050">
                <a:solidFill>
                  <a:srgbClr val="94A3B8"/>
                </a:solidFill>
              </a:rPr>
              <a:t>Re-running a previously built screenshot + contract hash returns the cached page in ~2 seconds.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427" y="9427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BACKEND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Deterministic Templates &amp; Adaptive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Instant code compilation with conditional auth generation.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2668" y="2057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rPr dirty="0"/>
              <a:t>Template Generation (Step 11)</a:t>
            </a:r>
            <a:r>
              <a:rPr sz="1000" b="1" dirty="0">
                <a:solidFill>
                  <a:srgbClr val="10B981"/>
                </a:solidFill>
              </a:rPr>
              <a:t>  [STEP 11]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4225" y="2788920"/>
            <a:ext cx="46634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Instant Compilation: </a:t>
            </a:r>
            <a:r>
              <a:rPr sz="1100" dirty="0">
                <a:solidFill>
                  <a:srgbClr val="475569"/>
                </a:solidFill>
              </a:rPr>
              <a:t>Generates models, validation, controllers, and tests in milliseconds.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Evidence-Based Routes: </a:t>
            </a:r>
            <a:r>
              <a:rPr sz="1100" dirty="0">
                <a:solidFill>
                  <a:srgbClr val="475569"/>
                </a:solidFill>
              </a:rPr>
              <a:t>Search, filter, pagination, and status toggles (`</a:t>
            </a:r>
            <a:r>
              <a:rPr sz="1100" dirty="0" err="1">
                <a:solidFill>
                  <a:srgbClr val="475569"/>
                </a:solidFill>
              </a:rPr>
              <a:t>setStatus</a:t>
            </a:r>
            <a:r>
              <a:rPr sz="1100" dirty="0">
                <a:solidFill>
                  <a:srgbClr val="475569"/>
                </a:solidFill>
              </a:rPr>
              <a:t>`) only generated if shown on screen.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CSV Export &amp; Stats: </a:t>
            </a:r>
            <a:r>
              <a:rPr sz="1100" dirty="0">
                <a:solidFill>
                  <a:srgbClr val="475569"/>
                </a:solidFill>
              </a:rPr>
              <a:t>Exports and summary statistics cards generated only when visible.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501 Isolation: </a:t>
            </a:r>
            <a:r>
              <a:rPr sz="1100" dirty="0">
                <a:solidFill>
                  <a:srgbClr val="475569"/>
                </a:solidFill>
              </a:rPr>
              <a:t>Unmatched buttons generate clean 501 'Not Available Yet' handlers.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Automated Tests: </a:t>
            </a:r>
            <a:r>
              <a:rPr sz="1100" dirty="0">
                <a:solidFill>
                  <a:srgbClr val="475569"/>
                </a:solidFill>
              </a:rPr>
              <a:t>Every generated backend includes complete mocha/node test suites.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97040" y="1958514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rPr dirty="0"/>
              <a:t>Adaptive Authentication (Step 12)</a:t>
            </a:r>
          </a:p>
        </p:txBody>
      </p:sp>
      <p:pic>
        <p:nvPicPr>
          <p:cNvPr id="11" name="Picture 10" descr="m4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433" y="2781474"/>
            <a:ext cx="3678810" cy="20601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60" y="493776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• Login screen visible ➔ Generates Account model, scrypt password hashing, session tokens, 5-try lockout, and route protection.</a:t>
            </a:r>
            <a:br/>
            <a:r>
              <a:t>• NO login screen visible ➔ ZERO authentication code is generated.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FRONTEND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Step 15: The Runtime Wirer (`frontend/app.js`)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Zero-dependency client-side runtime connecting HTML controls to backend APIs.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11580" y="196596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rPr dirty="0"/>
              <a:t>Target Page: Products Dashboard (m2)</a:t>
            </a:r>
          </a:p>
        </p:txBody>
      </p:sp>
      <p:pic>
        <p:nvPicPr>
          <p:cNvPr id="8" name="Picture 7" descr="m2-add-search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28" y="2649837"/>
            <a:ext cx="4085577" cy="22879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0292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Verified in Real Headless Chrome:</a:t>
            </a:r>
            <a:br/>
            <a:r>
              <a:t>• Products (7/7 Pass): In-row edit, new row add, search, delete.</a:t>
            </a:r>
            <a:br/>
            <a:r>
              <a:t>• Staff + Auth (6/6 Pass): Login gate, Bearer token, persistent DB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6560" y="2012623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rPr dirty="0"/>
              <a:t>How the Binder Works</a:t>
            </a:r>
            <a:r>
              <a:rPr sz="1000" b="1" dirty="0">
                <a:solidFill>
                  <a:srgbClr val="10B981"/>
                </a:solidFill>
              </a:rPr>
              <a:t>  [STEP 15 VERIFIED]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28824"/>
            <a:ext cx="46634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Zero Build Dependencies: </a:t>
            </a:r>
            <a:r>
              <a:rPr sz="1100" dirty="0">
                <a:solidFill>
                  <a:srgbClr val="475569"/>
                </a:solidFill>
              </a:rPr>
              <a:t>Plain vanilla JavaScript (`frontend/app.js`) added to the zip at download time; no webpack or </a:t>
            </a:r>
            <a:r>
              <a:rPr sz="1100" dirty="0" err="1">
                <a:solidFill>
                  <a:srgbClr val="475569"/>
                </a:solidFill>
              </a:rPr>
              <a:t>npm</a:t>
            </a:r>
            <a:r>
              <a:rPr sz="1100" dirty="0">
                <a:solidFill>
                  <a:srgbClr val="475569"/>
                </a:solidFill>
              </a:rPr>
              <a:t> build needed.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Preserves Designer CSS: </a:t>
            </a:r>
            <a:r>
              <a:rPr sz="1100" dirty="0">
                <a:solidFill>
                  <a:srgbClr val="475569"/>
                </a:solidFill>
              </a:rPr>
              <a:t>Clones the original sample row for new entries, retaining exact Tailwind borders, spacing, and styles.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Format Matching: </a:t>
            </a:r>
            <a:r>
              <a:rPr sz="1100" dirty="0">
                <a:solidFill>
                  <a:srgbClr val="475569"/>
                </a:solidFill>
              </a:rPr>
              <a:t>Preserves currency styles (e.g. `$2.50`) and status badge colors (green/red) based on sample data patterns.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Event Interception: </a:t>
            </a:r>
            <a:r>
              <a:rPr sz="1100" dirty="0">
                <a:solidFill>
                  <a:srgbClr val="475569"/>
                </a:solidFill>
              </a:rPr>
              <a:t>Intercepts form submits and clicks in the capture phase to disable dummy mock scripts.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In-Row Editing: </a:t>
            </a:r>
            <a:r>
              <a:rPr sz="1100" dirty="0">
                <a:solidFill>
                  <a:srgbClr val="475569"/>
                </a:solidFill>
              </a:rPr>
              <a:t>When an Add button has no modal, opens an inline editable row with Enter/Save and Escape.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DEVELOPER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UI v1: Interactive Metro-Line Pipeline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A transparent transit-style dashboard giving developers real-time visibility.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45988" y="2008852"/>
            <a:ext cx="247561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rPr sz="1500" dirty="0"/>
              <a:t>Multi-Station Project Tracker</a:t>
            </a:r>
          </a:p>
        </p:txBody>
      </p:sp>
      <p:pic>
        <p:nvPicPr>
          <p:cNvPr id="8" name="Picture 7" descr="m3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777" y="2751514"/>
            <a:ext cx="3765066" cy="21084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0292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Pipeline Stations:</a:t>
            </a:r>
            <a:br/>
            <a:r>
              <a:t>[Upload] ➔ [Read] ➔ [Plan] ➔ [Pages] ➔ [Backend] ➔ [Sync] ➔ [Wire] ➔ [Ready]</a:t>
            </a:r>
            <a:br/>
            <a:r>
              <a:t>Each station shows live duration, host machine, and model stats.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97040" y="20432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rPr dirty="0"/>
              <a:t>Dashboard Capabilities</a:t>
            </a:r>
            <a:r>
              <a:rPr sz="1000" b="1" dirty="0">
                <a:solidFill>
                  <a:srgbClr val="10B981"/>
                </a:solidFill>
              </a:rPr>
              <a:t>  [UI v1 READY]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261" y="2834640"/>
            <a:ext cx="46634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Visual Subway Stations: </a:t>
            </a:r>
            <a:r>
              <a:rPr sz="1100" dirty="0">
                <a:solidFill>
                  <a:srgbClr val="475569"/>
                </a:solidFill>
              </a:rPr>
              <a:t>Live transit view pulses while active, turns green on completion, and shows real-time elapsed seconds.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Plain-English Explanations: </a:t>
            </a:r>
            <a:r>
              <a:rPr sz="1100" dirty="0">
                <a:solidFill>
                  <a:srgbClr val="475569"/>
                </a:solidFill>
              </a:rPr>
              <a:t>Clicking any station reveals transparent explanations of what executed and on which machine.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App Spec Inspector: </a:t>
            </a:r>
            <a:r>
              <a:rPr sz="1100" dirty="0">
                <a:solidFill>
                  <a:srgbClr val="475569"/>
                </a:solidFill>
              </a:rPr>
              <a:t>Interactive tab allowing developers to audit derived entities, routes, and screenshot evidence citations.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Code Inspection Tabs: </a:t>
            </a:r>
            <a:r>
              <a:rPr sz="1100" dirty="0">
                <a:solidFill>
                  <a:srgbClr val="475569"/>
                </a:solidFill>
              </a:rPr>
              <a:t>Side-by-side tabs to preview generated HTML pages, Express controllers, and database schemas.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2563EB"/>
                </a:solidFill>
              </a:rPr>
              <a:t>• </a:t>
            </a:r>
            <a:r>
              <a:rPr sz="1150" b="1" dirty="0">
                <a:solidFill>
                  <a:srgbClr val="0F172A"/>
                </a:solidFill>
              </a:rPr>
              <a:t>One-Click ZIP Export: </a:t>
            </a:r>
            <a:r>
              <a:rPr sz="1100" dirty="0">
                <a:solidFill>
                  <a:srgbClr val="475569"/>
                </a:solidFill>
              </a:rPr>
              <a:t>Instant download of the fully wired, ready-to-run application as soon as the Sync Barrier passes.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SUMMARY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8FAFC"/>
                </a:solidFill>
                <a:latin typeface="Arial"/>
              </a:defRPr>
            </a:pPr>
            <a:r>
              <a:t>Project Status &amp; Immediate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Solid foundations established with clear next steps toward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2095" y="204608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rPr dirty="0"/>
              <a:t>Accomplished Milestones</a:t>
            </a:r>
            <a:r>
              <a:rPr sz="1000" b="1" dirty="0">
                <a:solidFill>
                  <a:srgbClr val="10B981"/>
                </a:solidFill>
              </a:rPr>
              <a:t>  [STEPS 1-12, 15 COMPLETE]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2869048"/>
            <a:ext cx="46634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0EA5E9"/>
                </a:solidFill>
              </a:rPr>
              <a:t>• </a:t>
            </a:r>
            <a:r>
              <a:rPr sz="1150" b="1" dirty="0">
                <a:solidFill>
                  <a:srgbClr val="F8FAFC"/>
                </a:solidFill>
              </a:rPr>
              <a:t>Full Pipeline Operational: </a:t>
            </a:r>
            <a:r>
              <a:rPr sz="1100" dirty="0">
                <a:solidFill>
                  <a:srgbClr val="94A3B8"/>
                </a:solidFill>
              </a:rPr>
              <a:t>Screenshots reliably transform into tested, wired, running full-stack apps.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0EA5E9"/>
                </a:solidFill>
              </a:rPr>
              <a:t>• </a:t>
            </a:r>
            <a:r>
              <a:rPr sz="1150" b="1" dirty="0">
                <a:solidFill>
                  <a:srgbClr val="F8FAFC"/>
                </a:solidFill>
              </a:rPr>
              <a:t>Zero Evidence Hallucinations: </a:t>
            </a:r>
            <a:r>
              <a:rPr sz="1100" dirty="0">
                <a:solidFill>
                  <a:srgbClr val="94A3B8"/>
                </a:solidFill>
              </a:rPr>
              <a:t>Guaranteed 100% correlation between visible UI elements and generated code.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0EA5E9"/>
                </a:solidFill>
              </a:rPr>
              <a:t>• </a:t>
            </a:r>
            <a:r>
              <a:rPr sz="1150" b="1" dirty="0">
                <a:solidFill>
                  <a:srgbClr val="F8FAFC"/>
                </a:solidFill>
              </a:rPr>
              <a:t>High Test Health: </a:t>
            </a:r>
            <a:r>
              <a:rPr sz="1100" dirty="0">
                <a:solidFill>
                  <a:srgbClr val="94A3B8"/>
                </a:solidFill>
              </a:rPr>
              <a:t>195 unit tests and 47 integration tests passing green across services.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0EA5E9"/>
                </a:solidFill>
              </a:rPr>
              <a:t>• </a:t>
            </a:r>
            <a:r>
              <a:rPr sz="1150" b="1" dirty="0">
                <a:solidFill>
                  <a:srgbClr val="F8FAFC"/>
                </a:solidFill>
              </a:rPr>
              <a:t>Real Browser Verification: </a:t>
            </a:r>
            <a:r>
              <a:rPr sz="1100" dirty="0">
                <a:solidFill>
                  <a:srgbClr val="94A3B8"/>
                </a:solidFill>
              </a:rPr>
              <a:t>Wired applications verified end-to-end in real Google Chrome.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 dirty="0">
                <a:solidFill>
                  <a:srgbClr val="0EA5E9"/>
                </a:solidFill>
              </a:rPr>
              <a:t>• </a:t>
            </a:r>
            <a:r>
              <a:rPr sz="1150" b="1" dirty="0">
                <a:solidFill>
                  <a:srgbClr val="F8FAFC"/>
                </a:solidFill>
              </a:rPr>
              <a:t>Presentation UI Ready: </a:t>
            </a:r>
            <a:r>
              <a:rPr sz="1100" dirty="0">
                <a:solidFill>
                  <a:srgbClr val="94A3B8"/>
                </a:solidFill>
              </a:rPr>
              <a:t>Interactive Metro-line dashboard operational in `web/` with live ZIP download.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44805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32167" y="2082617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rPr dirty="0"/>
              <a:t>Next Engineering Steps</a:t>
            </a:r>
            <a:r>
              <a:rPr sz="1000" b="1" dirty="0">
                <a:solidFill>
                  <a:srgbClr val="0EA5E9"/>
                </a:solidFill>
              </a:rPr>
              <a:t>  [ROADMAP]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5074"/>
            <a:ext cx="46634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0EA5E9"/>
                </a:solidFill>
              </a:rPr>
              <a:t>• </a:t>
            </a:r>
            <a:r>
              <a:rPr sz="1150" b="1">
                <a:solidFill>
                  <a:srgbClr val="F8FAFC"/>
                </a:solidFill>
              </a:rPr>
              <a:t>Immediate Next Step: Step 16: </a:t>
            </a:r>
            <a:r>
              <a:rPr sz="1100">
                <a:solidFill>
                  <a:srgbClr val="94A3B8"/>
                </a:solidFill>
              </a:rPr>
              <a:t>Verifier + Repair Loop: Headless robot checking that every button is backed, auto-triggering Gateway repairs if markers are missing.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0EA5E9"/>
                </a:solidFill>
              </a:rPr>
              <a:t>• </a:t>
            </a:r>
            <a:r>
              <a:rPr sz="1150" b="1">
                <a:solidFill>
                  <a:srgbClr val="F8FAFC"/>
                </a:solidFill>
              </a:rPr>
              <a:t>Step 13: AI Layer: </a:t>
            </a:r>
            <a:r>
              <a:rPr sz="1100">
                <a:solidFill>
                  <a:srgbClr val="94A3B8"/>
                </a:solidFill>
              </a:rPr>
              <a:t>Code generation model for bespoke buttons that templates cannot cover, with AST and Docker sandboxing.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0EA5E9"/>
                </a:solidFill>
              </a:rPr>
              <a:t>• </a:t>
            </a:r>
            <a:r>
              <a:rPr sz="1150" b="1">
                <a:solidFill>
                  <a:srgbClr val="F8FAFC"/>
                </a:solidFill>
              </a:rPr>
              <a:t>Step 14: Project Memory: </a:t>
            </a:r>
            <a:r>
              <a:rPr sz="1100">
                <a:solidFill>
                  <a:srgbClr val="94A3B8"/>
                </a:solidFill>
              </a:rPr>
              <a:t>Image dHash and vector embeddings enabling instant cache replay for duplicate or similar screens.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0EA5E9"/>
                </a:solidFill>
              </a:rPr>
              <a:t>• </a:t>
            </a:r>
            <a:r>
              <a:rPr sz="1150" b="1">
                <a:solidFill>
                  <a:srgbClr val="F8FAFC"/>
                </a:solidFill>
              </a:rPr>
              <a:t>Step 19: GitHub Publish: </a:t>
            </a:r>
            <a:r>
              <a:rPr sz="1100">
                <a:solidFill>
                  <a:srgbClr val="94A3B8"/>
                </a:solidFill>
              </a:rPr>
              <a:t>One-click OAuth export directly to a user's GitHub repository with passing CI.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1914</Words>
  <Application>Microsoft Office PowerPoint</Application>
  <PresentationFormat>Widescreen</PresentationFormat>
  <Paragraphs>135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Harmanpreet Singh</cp:lastModifiedBy>
  <cp:revision>2</cp:revision>
  <dcterms:created xsi:type="dcterms:W3CDTF">2013-01-27T09:14:16Z</dcterms:created>
  <dcterms:modified xsi:type="dcterms:W3CDTF">2026-10-22T03:34:05Z</dcterms:modified>
  <cp:category/>
</cp:coreProperties>
</file>